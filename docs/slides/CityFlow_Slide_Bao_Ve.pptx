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3D"/>
                </a:solidFill>
                <a:latin typeface="Arial"/>
              </a:rPr>
              <a:t>E2 — Sai số DGIM theo r  (∝ O(1/r))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Sai số trung bình (%)</c:v>
                </c:pt>
              </c:strCache>
            </c:strRef>
          </c:tx>
          <c:spPr>
            <a:solidFill>
              <a:srgbClr val="F4623A"/>
            </a:solidFill>
            <a:ln w="38100" cap="flat">
              <a:solidFill>
                <a:srgbClr val="F462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426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623A"/>
              </a:solidFill>
              <a:ln w="9525" cap="flat">
                <a:solidFill>
                  <a:srgbClr val="F462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r=2</c:v>
                  </c:pt>
                  <c:pt idx="1">
                    <c:v>r=4</c:v>
                  </c:pt>
                  <c:pt idx="2">
                    <c:v>r=8</c:v>
                  </c:pt>
                  <c:pt idx="3">
                    <c:v>r=16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11.92</c:v>
                </c:pt>
                <c:pt idx="1">
                  <c:v>5.18</c:v>
                </c:pt>
                <c:pt idx="2">
                  <c:v>2.43</c:v>
                </c:pt>
                <c:pt idx="3">
                  <c:v>1.29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426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3D"/>
                </a:solidFill>
                <a:latin typeface="Arial"/>
              </a:rPr>
              <a:t>E3 — Bộ nhớ theo N (N tăng 500×, bộ nhớ chỉ 1,46×)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Bộ nhớ (byte)</c:v>
                </c:pt>
              </c:strCache>
            </c:strRef>
          </c:tx>
          <c:spPr>
            <a:solidFill>
              <a:srgbClr val="2D4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42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10⁴</c:v>
                  </c:pt>
                  <c:pt idx="1">
                    <c:v>10⁵</c:v>
                  </c:pt>
                  <c:pt idx="2">
                    <c:v>10⁶</c:v>
                  </c:pt>
                  <c:pt idx="3">
                    <c:v>5×10⁶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8908</c:v>
                </c:pt>
                <c:pt idx="1">
                  <c:v>9780</c:v>
                </c:pt>
                <c:pt idx="2">
                  <c:v>11412</c:v>
                </c:pt>
                <c:pt idx="3">
                  <c:v>13016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42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Sai số ở ngân sách 32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Sai số trung bình (%)</c:v>
                </c:pt>
              </c:strCache>
            </c:strRef>
          </c:tx>
          <c:spPr>
            <a:solidFill>
              <a:srgbClr val="2D4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42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62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34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Đều</c:v>
                  </c:pt>
                  <c:pt idx="1">
                    <c:v>Ưu tiên bit cao
(trực giác)</c:v>
                  </c:pt>
                  <c:pt idx="2">
                    <c:v>Công thức
Lagrange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2.119</c:v>
                </c:pt>
                <c:pt idx="1">
                  <c:v>2.377</c:v>
                </c:pt>
                <c:pt idx="2">
                  <c:v>1.615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9EE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D42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E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3D"/>
        </a:solidFill>
        <a:ln>
          <a:noFill/>
        </a:ln>
        <a:effectLst/>
      </c:spPr>
    </c:plotArea>
    <c:plotVisOnly val="1"/>
    <c:dispBlanksAs val="span"/>
  </c:chart>
  <c:spPr>
    <a:solidFill>
      <a:srgbClr val="0F1B3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F1B3D"/>
                </a:solidFill>
                <a:latin typeface="Arial"/>
              </a:rPr>
              <a:t>FM: sai số giảm theo m (vượt cận 11,2% tại m≥128)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Sai số trung vị (%)</c:v>
                </c:pt>
              </c:strCache>
            </c:strRef>
          </c:tx>
          <c:spPr>
            <a:solidFill>
              <a:srgbClr val="F4623A"/>
            </a:solidFill>
            <a:ln w="38100" cap="flat">
              <a:solidFill>
                <a:srgbClr val="F462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426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623A"/>
              </a:solidFill>
              <a:ln w="9525" cap="flat">
                <a:solidFill>
                  <a:srgbClr val="F462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40.4</c:v>
                </c:pt>
                <c:pt idx="1">
                  <c:v>26</c:v>
                </c:pt>
                <c:pt idx="2">
                  <c:v>20.5</c:v>
                </c:pt>
                <c:pt idx="3">
                  <c:v>14.2</c:v>
                </c:pt>
                <c:pt idx="4">
                  <c:v>10.7</c:v>
                </c:pt>
                <c:pt idx="5">
                  <c:v>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426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Biến thiên khi thêm giao dịch rỗng gấp 100 lần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Biến thiên (%)</c:v>
                </c:pt>
              </c:strCache>
            </c:strRef>
          </c:tx>
          <c:spPr>
            <a:solidFill>
              <a:srgbClr val="4CAF7D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62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6 độ đo
bất biến</c:v>
                  </c:pt>
                  <c:pt idx="1">
                    <c:v>Lift</c:v>
                  </c:pt>
                  <c:pt idx="2">
                    <c:v>Chi-bình
phương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10000</c:v>
                </c:pt>
                <c:pt idx="2">
                  <c:v>10259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9EE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D42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EF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B3D"/>
        </a:solidFill>
        <a:ln>
          <a:noFill/>
        </a:ln>
        <a:effectLst/>
      </c:spPr>
    </c:plotArea>
    <c:plotVisOnly val="1"/>
    <c:dispBlanksAs val="span"/>
  </c:chart>
  <c:spPr>
    <a:solidFill>
      <a:srgbClr val="0F1B3D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F1B3D"/>
                </a:solidFill>
                <a:latin typeface="Arial"/>
              </a:rPr>
              <a:t>Thời gian chạy theo ngưỡng hỗ trợ (giây, thang log)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FP-Growth (s)</c:v>
                </c:pt>
              </c:strCache>
            </c:strRef>
          </c:tx>
          <c:spPr>
            <a:solidFill>
              <a:srgbClr val="F462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42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10%</c:v>
                  </c:pt>
                  <c:pt idx="1">
                    <c:v>7%</c:v>
                  </c:pt>
                  <c:pt idx="2">
                    <c:v>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0.018</c:v>
                </c:pt>
                <c:pt idx="1">
                  <c:v>0.868</c:v>
                </c:pt>
                <c:pt idx="2">
                  <c:v>6.28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Apriori (s)</c:v>
                </c:pt>
              </c:strCache>
            </c:strRef>
          </c:tx>
          <c:spPr>
            <a:solidFill>
              <a:srgbClr val="2D42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42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10%</c:v>
                  </c:pt>
                  <c:pt idx="1">
                    <c:v>7%</c:v>
                  </c:pt>
                  <c:pt idx="2">
                    <c:v>5%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0.157</c:v>
                </c:pt>
                <c:pt idx="1">
                  <c:v>78.99</c:v>
                </c:pt>
                <c:pt idx="2">
                  <c:v>213.3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42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.001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4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42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914400"/>
            <a:ext cx="3291840" cy="3291840"/>
          </a:xfrm>
          <a:prstGeom prst="ellipse">
            <a:avLst/>
          </a:prstGeom>
          <a:solidFill>
            <a:srgbClr val="2D42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LỚN — KHAI PHÁ DỮ LIỆU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giao thông đô thị bằng truy vấn cửa sổ trượt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khai phá mẫu đồng ùn tắc trên luồng dữ liệu quy mô lớn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F4A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15 — Lớp Hệ thống Thông tin 02, khóa 2025–2027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Thuý Anh · Trần Thị Thảo · Trần Văn Hanh
</a:t>
            </a:r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Thanh-Hà Đỗ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ĐỘNG LỰC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toán: hàng trăm luồng đồng thời, bộ nhớ chỉ có giới hạn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"Có thể có nhiều luồng đồng thời — không thể giữ nhiều cửa sổ."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Slide chương Data Streaming, tr.53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9EEF9"/>
          </a:solidFill>
          <a:ln/>
          <a:effectLst>
            <a:outerShdw sx="100000" sy="100000" kx="0" ky="0" algn="bl" rotWithShape="0" blurRad="101600" dist="38100" dir="5400000">
              <a:srgbClr val="1C2B5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063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taxi NYC,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khu vực là một luồng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9EEF9"/>
          </a:solidFill>
          <a:ln/>
          <a:effectLst>
            <a:outerShdw sx="100000" sy="100000" kx="0" ky="0" algn="bl" rotWithShape="0" blurRad="101600" dist="38100" dir="5400000">
              <a:srgbClr val="1C2B52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3063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43400" y="3886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song song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(đón + trả + 5 vị từ)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9EEF9"/>
          </a:solidFill>
          <a:ln/>
          <a:effectLst>
            <a:outerShdw sx="100000" sy="100000" kx="0" ky="0" algn="bl" rotWithShape="0" blurRad="101600" dist="38100" dir="5400000">
              <a:srgbClr val="1C2B52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3063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19,66M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38160" y="3886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chuyến đi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một tháng dữ liệu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cửa sổ đầy đủ N=10⁶ cho từng luồng × từng loại truy vấn ⇒ bộ nhớ tăng tuyến tính không kiểm soát được.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BIỂU BÀI TOÁN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 câu hỏi nghiệp vụ — hai lớp bài toán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9EE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nhiêu chuyến đón từ khu vực z trong N sự kiện gần nhất?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0" y="15087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 của N chuyến gần nhất?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78240" y="22860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DGIM số nguyên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9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bao nhiêu tuyến đường phân biệt đang hoạt động?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Flajolet-Martin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 cầu có đang tập trung bất thường không?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78240" y="38404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9EE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1772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61772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đại diện nào để phân tích sâu?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78240" y="46177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Sampling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3E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949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nào ùn tắc CÙNG NHAU?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78240" y="53949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+ độ đo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 (Q1–Q5): cửa sổ trượt xấp xỉ    ·    Lớp 2 (Q6): khai phá mẫu — thành phần BẮT BUỘC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TLC Trip Records — 19.663.928 sự kiện thật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C2B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thiếu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11 cột sử dụng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C2B52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5087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43400" y="22860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địa lý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sẵn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C2B52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5087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2860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giờ cao/thấp điểm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xác nhận tính phi dừng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phát hiện làm thay đổi thiết kế: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995928"/>
            <a:ext cx="91440" cy="9144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86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44,67% bản ghi lệch thứ tự thời gian → bắt buộc sắp xếp lại trước khi xử lý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90288"/>
            <a:ext cx="91440" cy="9144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805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doanh thu lệch phải mạnh → chốt m=8 bit thay vì giả định m=12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184648"/>
            <a:ext cx="91440" cy="9144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749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khu vực chỉ chiếm 13,3% → rời rạc hóa phải theo phân vị RIÊNG từng khu vực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Bảy tầng — từ luồng thô tới bảng điều khiển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Replay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+ sắp xếp thời gian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49424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Sketch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31136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DGIM · FM · AMS · Reservoir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77056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58768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 luồng, đồng hồ chung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31536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462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04688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+ 10 độ đo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9168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0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59952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41664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314432" y="182880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2D4263"/>
          </a:solidFill>
          <a:ln/>
        </p:spPr>
      </p:sp>
      <p:sp>
        <p:nvSpPr>
          <p:cNvPr id="29" name="Text 27"/>
          <p:cNvSpPr/>
          <p:nvPr/>
        </p:nvSpPr>
        <p:spPr>
          <a:xfrm>
            <a:off x="10314432" y="19659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387584" y="237744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69296" y="3246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oracle chính xác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(đỏ cam) là thành phần BẮT BUỘC: trả lời "khu vực nào ùn tắc CÙNG NHAU" — điều tầng sketch không làm được.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thiết kế: (P1) một lượt, không quay lại  ·  (P2) bộ nhớ đo THẬT  ·  (P3) oracle tách biệt hoàn toàn  ·  (P4) from-scratch trước, thư viện chỉ để kiểm định  ·  (P5) mọi tham số cấu hình được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DGIM — đếm bit 1 trong cửa sổ trượt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tưởng: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luồng bằng các bucket, kích thước LŨY THỪA 2 (1,1,2,4,8,…)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bất biến:
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Tối đa r bucket cùng kích thước
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Không chồng lấn timestamp
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Bucket mới nhỏ hơn bucket cũ hơn
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Loại bucket khi ra khỏi cửa sổ 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0" y="2377440"/>
            <a:ext cx="502920" cy="685800"/>
          </a:xfrm>
          <a:prstGeom prst="roundRect">
            <a:avLst>
              <a:gd name="adj" fmla="val 9091"/>
            </a:avLst>
          </a:prstGeom>
          <a:solidFill>
            <a:srgbClr val="2D4263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0" y="23774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2377440"/>
            <a:ext cx="502920" cy="685800"/>
          </a:xfrm>
          <a:prstGeom prst="roundRect">
            <a:avLst>
              <a:gd name="adj" fmla="val 9091"/>
            </a:avLst>
          </a:prstGeom>
          <a:solidFill>
            <a:srgbClr val="2D4263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3774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237744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2D4263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2377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75320" y="237744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F462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3774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lượng = 1 + 1 + 2 + 4/2 =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611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(trừ nửa bucket CŨ NHẤT — không biết chính xác phần còn trong cửa sổ)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2976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lý cận sai số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7548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|ĉ − c| / c  ≤  (B/2) / B  =  50%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B = kích thước bucket cũ nhất, r=2.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r → sai số giảm theo O(1/r).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E1–E3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cận lý thuyết — xác nhận trên 19,66 triệu sự kiện thật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4173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E9EEF9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47548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3.178 phép truy vấn vi phạm cận 50% — sai số max quan sát 46,3%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E7: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87.933 sự kiện/giây (vượt mục tiêu 50.000) · 5,66 MB cho 535 luồng · tiết kiệm 11,8× so với lưu đầy đủ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NGHIÊN CỨU ĐỘC LẬP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 thuyết H1: phân bổ ngân sách DGIM mở rộng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giảng dạy nêu công thức mở rộng DGIM cho tổng số nguyên nhưng KHÔNG bàn cách phân bổ ngân sách bộ nhớ giữa các luồng bit.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B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dẫn bằng nhân tử Lagrange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rᵢ  ∝  √( 2ⁱ · cᵢ 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trọng số 2ⁱ với tần suất thật cᵢ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0" y="1920240"/>
          <a:ext cx="5623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B3A1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công thức Lagrange tốt hơn phân bổ đều 23,8% — trực giác "ưu tiên bit cao" TỆ HƠN đều 12,2%. Bit gây sai số nhiều nhất là bit thứ 4, không phải bit cao nhất.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E5–E6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Flajolet-Martin &amp; AMS: chính xác chưa chắc đã đủ tín hiệu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41732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E9EEF9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— tín hiệu số bất ngờ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20116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ước lượng (k=100):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7,1%  ✓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tỷ lệ bất thường/trung vị:
</a:t>
            </a:r>
            <a:pPr indent="0" marL="0">
              <a:lnSpc>
                <a:spcPct val="130000"/>
              </a:lnSpc>
              <a:buNone/>
            </a:pPr>
            <a:r>
              <a:rPr lang="en-US" sz="1300" strike="sngStrike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5,0×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thô  →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2,7×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sau chuẩn hóa n²
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Phân phối NYC khá đều — cần tầng khai phá mẫu (Q6) để trả lời "ở đâu, cùng ai".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hiện: hằng số hiệu chỉnh kinh điển φ=0,77351 KHÔNG áp dụng được cho sơ đồ này — dành cho một biến thể FM khác — áp dụng nhầm làm sai số TĂNG thay vì giảm.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E7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Nút thắt hiệu năng không nằm ở nơi dự đoán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0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7.077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/ giây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535 luồng DGIM: chỉ 1,5% thời gian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Flajolet-Martin (m=256): 97,2% thời gian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tối ưu độ chính xác (E5) đã âm thầm phá vỡ hiệu năng hệ thống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— VECTOR HÓA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87.933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/ giây  (×12,4)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cả lô vào MỘT phép toán numpy cho toàn bộ m hàm băm — tận dụng tính KẾT HỢP và LŨY ĐẲNG của phép max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chứng: R khớp TUYỆT ĐỐI với đường xử lý từng phần tử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học: đo trước khi tối ưu — tối ưu cục bộ một thành phần có thể phá vỡ hiệu năng toàn hệ thống.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KẾT QUẢ NỔI BẬT NHẤT — E10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hoàn hảo cho tính bất biến với giao dịch rỗng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thật: Midtown Center ⇒ Midtown East — thêm dần giao dịch rỗng (tối đa gấp 100 lần dữ liệu gốc)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371600" y="1737360"/>
          <a:ext cx="9418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All-Confidence, Coherence, Cosine, Kulczynski, Max-Confidence, Imbalance Ratio  —  không dùng n  ⇒  không thể bị ảnh hưởng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E9–E11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Luật đồng ùn tắc mang ý nghĩa địa lý thật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Kulczynski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9EEF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Center ⇒ Midtown East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192024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0" y="19202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khu vực liền kề trung tâm Manhattan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44368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Village+Williamsburg(N) ⇒ Bushwick S+Williamsburg(S)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944368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2944368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11,27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0" y="2944368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giải trí đêm Brooklyn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9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68496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Bushwick N+Greenwich Village S ⇒ East Village+Lower East Side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3968496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3968496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0" y="3968496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liền kề Đông Manhattan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luật từ 355 mẫu thường xuyên (min_sup=7%) · Imbalance Ratio thấp (≈0,003–0,13) ⇒ hai khu vực bận rộn CÂN BẰNG, không bên nào lấn át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E9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FP-Growth vs Apriori: 3 điểm nghẽn định lượng trên dữ liệu thật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min_sup = 5%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91,0×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49640" y="2103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tốc đỉnh (tại 7%)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29400" y="2724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61.329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549640" y="27249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cho 16.319 mẫu thật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33467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181.750.272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549640" y="334670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 kiểm tra hỗ trợ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29400" y="396849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73,6%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549640" y="396849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lại sau nén bằng mẫu đóng — KHÔNG mất thông tin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thuật toán độc lập cho kết quả GIỐNG HỆT NHAU ở mọi ngưỡng — kiểm chứng tính đúng đắn trực tiếp trong mã nguồn thực nghiệm.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TÍNH ĐÚNG ĐẮN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kiểm định · sai lệch với thư viện tham chiếu = 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9EE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158/158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đơn vị đạt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hiện trực tiếp ví dụ số trong tài liệu giảng dạy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9EEF9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737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 đối chiếu mlxtend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from-scratch khớp TUYỆT ĐỐI thư viện tham chiếu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9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737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2104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độc lập cho cùng kết quả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· Apriori · mlxtend — cùng tập mục, cùng số đếm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ví dụ số tái hiện làm kiểm định: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DGIM: bucket {1,1,2,4} → ước lượng = 6  (slide tr.65)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093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AMS: luồng 15 phần tử → ước lượng = 55  (slide tr.48)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4772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FP-Growth: f-list {f,c,a,b,m,p}, min_sup=3  (slide tr.22)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HOÀN CHỈNH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thuật toán tới hệ thống hoạt động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1965960" cy="502920"/>
          </a:xfrm>
          <a:prstGeom prst="roundRect">
            <a:avLst>
              <a:gd name="adj" fmla="val 50909"/>
            </a:avLst>
          </a:prstGeom>
          <a:solidFill>
            <a:srgbClr val="F462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mỗi endpoint trả kèm cận lý thuyết &amp; tham số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1920240"/>
            <a:ext cx="1965960" cy="502920"/>
          </a:xfrm>
          <a:prstGeom prst="roundRect">
            <a:avLst>
              <a:gd name="adj" fmla="val 50909"/>
            </a:avLst>
          </a:prstGeom>
          <a:solidFill>
            <a:srgbClr val="F4623A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7 bảng, đã kiểm chứng ghi/đọc dữ liệu thật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920240"/>
            <a:ext cx="1965960" cy="502920"/>
          </a:xfrm>
          <a:prstGeom prst="roundRect">
            <a:avLst>
              <a:gd name="adj" fmla="val 50909"/>
            </a:avLst>
          </a:prstGeom>
          <a:solidFill>
            <a:srgbClr val="F462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 + Recharts — 4 màn hình trực quan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1920240"/>
            <a:ext cx="1965960" cy="502920"/>
          </a:xfrm>
          <a:prstGeom prst="roundRect">
            <a:avLst>
              <a:gd name="adj" fmla="val 50909"/>
            </a:avLst>
          </a:prstGeom>
          <a:solidFill>
            <a:srgbClr val="F4623A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60604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— triển khai 3 dịch vụ một lệnh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 (bản đồ nhiệt)  ·  Accuracy Lab  ·  Pattern Explorer (đảo thứ hạng luật)  ·  Benchmark Dashboard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đóng góp chính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đầy đủ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cận sai số 50%, quan hệ O(1/r), bộ nhớ O(log²N) của DGIM trên dữ liệu thật quy mô lớn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thuyết nghiên cứu độc lập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63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ngân sách DGIM mở rộng — suy dẫn Lagrange, xác nhận lý thuyết, bác bỏ trực giác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685800" cy="68580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null-invariance hoàn hảo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4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thiên 0,0% so với 10.259% của χ² — số liệu thay lời phê phán lý thuyết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9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mở rộng 12 tháng dữ liệu · kết nối luồng thời gian thực · phát hiện trôi khái niệm · kết hợp đặc trưng ngữ cảnh (thời tiết, sự kiện)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quý thầy/cô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CityFlow — Nhóm 15 — Hệ thống Thông tin 02, khóa 2025–2027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2026-07-28T16:08:53Z</dcterms:created>
  <dcterms:modified xsi:type="dcterms:W3CDTF">2026-07-28T16:08:53Z</dcterms:modified>
</cp:coreProperties>
</file>